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5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3840480" cy="3840480"/>
          </a:xfrm>
          <a:prstGeom prst="ellipse">
            <a:avLst/>
          </a:prstGeom>
          <a:solidFill>
            <a:srgbClr val="0E7C86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206240"/>
            <a:ext cx="2926080" cy="2926080"/>
          </a:xfrm>
          <a:prstGeom prst="ellipse">
            <a:avLst/>
          </a:prstGeom>
          <a:solidFill>
            <a:srgbClr val="00A896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822960" y="4846320"/>
            <a:ext cx="2743200" cy="2743200"/>
          </a:xfrm>
          <a:prstGeom prst="ellipse">
            <a:avLst/>
          </a:prstGeom>
          <a:solidFill>
            <a:srgbClr val="0E7C86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8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社内共有資料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CareNet.com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UI/UX分析レポート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3886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8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― 誰にでもわかる、やさしい要点まとめ ―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5806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C7C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対象：トップページ（非ログイン状態）  ／  作成日：2026年7月22日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はじめに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このスライドについて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6B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CareNet.comのトップページ（ログイン前）を、使いやすさの目線で分析しました。専門用語はできるだけかみくだいて説明します。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E8F6F5"/>
          </a:solidFill>
          <a:ln/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278892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788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68680" y="34747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何を見た？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" y="39319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A6B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トップページの構成・情報の並べ方・スマホ対応の設定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25112" y="246888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E8F6F5"/>
          </a:solidFill>
          <a:ln/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278892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2788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45152" y="34747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どうやって？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45152" y="39319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A6B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ページの中身を読み解く「使いやすさチェック」＋競合サイトとの比較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01584" y="2468880"/>
            <a:ext cx="3520440" cy="2377440"/>
          </a:xfrm>
          <a:prstGeom prst="roundRect">
            <a:avLst>
              <a:gd name="adj" fmla="val 4615"/>
            </a:avLst>
          </a:prstGeom>
          <a:solidFill>
            <a:srgbClr val="E8F6F5"/>
          </a:solidFill>
          <a:ln/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21624" y="278892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8421624" y="278892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421624" y="347472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何のため？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421624" y="393192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A6B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強みを活かしつつ、もっと使いやすくするヒントを全社で共有するため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5120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※ ログイン後の画面や実機での操作感、アクセス解析の数値は今回の範囲外です。次の段階で確認が必要です。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前提のおさらい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そもそもCareNet.comとは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931920" cy="3931920"/>
          </a:xfrm>
          <a:prstGeom prst="roundRect">
            <a:avLst>
              <a:gd name="adj" fmla="val 2791"/>
            </a:avLst>
          </a:prstGeom>
          <a:solidFill>
            <a:srgbClr val="0E7C86"/>
          </a:solidFill>
          <a:ln/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23774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24万人超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640080" y="3337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FE8E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医師会員数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388620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日本の医師の</a:t>
            </a:r>
            <a:endParaRPr lang="en-US" sz="15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約7割にあたる規模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846320" y="173736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医師の臨床と生活を、幅広くカバー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846320" y="2377440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2377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49240" y="233172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論文・ニュース  </a:t>
            </a:r>
            <a:pPr indent="0" marL="0">
              <a:buNone/>
            </a:pPr>
            <a:r>
              <a:rPr lang="en-US" sz="1450" dirty="0">
                <a:solidFill>
                  <a:srgbClr val="5A6B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最新の医療情報をいち早く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846320" y="3127248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31272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49240" y="3081528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連載コラム／動画（CareNeTV）  </a:t>
            </a:r>
            <a:pPr indent="0" marL="0">
              <a:buNone/>
            </a:pPr>
            <a:r>
              <a:rPr lang="en-US" sz="1450" dirty="0">
                <a:solidFill>
                  <a:srgbClr val="5A6B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学びと解説のコンテンツ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4846320" y="3877056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4846320" y="387705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49240" y="3831336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eディテーリング・Web講演会  </a:t>
            </a:r>
            <a:pPr indent="0" marL="0">
              <a:buNone/>
            </a:pPr>
            <a:r>
              <a:rPr lang="en-US" sz="1450" dirty="0">
                <a:solidFill>
                  <a:srgbClr val="5A6B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医薬品情報の提供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4846320" y="4626864"/>
            <a:ext cx="365760" cy="3657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4846320" y="462686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349240" y="4581144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キャリア・ポイントプログラム  </a:t>
            </a:r>
            <a:pPr indent="0" marL="0">
              <a:buNone/>
            </a:pPr>
            <a:r>
              <a:rPr lang="en-US" sz="1450" dirty="0">
                <a:solidFill>
                  <a:srgbClr val="5A6B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転職支援やお得な特典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846320" y="5440680"/>
            <a:ext cx="6766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コンテンツの量と網羅性は圧倒的 ―― これが長年の資産であり、最大の強みです。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エグゼクティブサマリー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要点：見つかった3つの大きな課題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6B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強みは「全部そろっている」こと。裏返しの課題も、大きく3つに整理できます。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214884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E5564E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651760"/>
            <a:ext cx="3520440" cy="548640"/>
          </a:xfrm>
          <a:prstGeom prst="rect">
            <a:avLst/>
          </a:prstGeom>
          <a:solidFill>
            <a:srgbClr val="E5564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1343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1600200" y="23317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スマホ対応の遅れ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868680" y="347472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A4A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トップページがPC幅で固定され、スマホで縮小表示に。多忙な医師のスマホ利用が主流の今、最大のリスク。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25112" y="21488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25112" y="214884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E8933A"/>
          </a:solidFill>
          <a:ln/>
        </p:spPr>
      </p:sp>
      <p:sp>
        <p:nvSpPr>
          <p:cNvPr id="13" name="Shape 11"/>
          <p:cNvSpPr/>
          <p:nvPr/>
        </p:nvSpPr>
        <p:spPr>
          <a:xfrm>
            <a:off x="4325112" y="2651760"/>
            <a:ext cx="3520440" cy="548640"/>
          </a:xfrm>
          <a:prstGeom prst="rect">
            <a:avLst/>
          </a:prstGeom>
          <a:solidFill>
            <a:srgbClr val="E8933A"/>
          </a:solidFill>
          <a:ln/>
        </p:spPr>
      </p:sp>
      <p:sp>
        <p:nvSpPr>
          <p:cNvPr id="14" name="Text 12"/>
          <p:cNvSpPr/>
          <p:nvPr/>
        </p:nvSpPr>
        <p:spPr>
          <a:xfrm>
            <a:off x="4599432" y="231343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5376672" y="23317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情報が多すぎて迷う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645152" y="347472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A4A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トップに10以上の情報ゾーン、フッターに連載40本超。網羅的だが「今日やること」が一目で分からない。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101584" y="2148840"/>
            <a:ext cx="3520440" cy="356616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101584" y="2148840"/>
            <a:ext cx="3520440" cy="1051560"/>
          </a:xfrm>
          <a:prstGeom prst="roundRect">
            <a:avLst>
              <a:gd name="adj" fmla="val 10435"/>
            </a:avLst>
          </a:prstGeom>
          <a:solidFill>
            <a:srgbClr val="0E7C86"/>
          </a:solidFill>
          <a:ln/>
        </p:spPr>
      </p:sp>
      <p:sp>
        <p:nvSpPr>
          <p:cNvPr id="19" name="Shape 17"/>
          <p:cNvSpPr/>
          <p:nvPr/>
        </p:nvSpPr>
        <p:spPr>
          <a:xfrm>
            <a:off x="8101584" y="2651760"/>
            <a:ext cx="3520440" cy="54864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20" name="Text 18"/>
          <p:cNvSpPr/>
          <p:nvPr/>
        </p:nvSpPr>
        <p:spPr>
          <a:xfrm>
            <a:off x="8375904" y="2313432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9153144" y="233172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サービスの分断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8421624" y="3474720"/>
            <a:ext cx="288036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3A4A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carenetv / live / career など多数のサブドメインに機能が分散。ブランド体験とログイン導線の一貫性が弱い。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知っておきたいこと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調査の概要と前提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023360"/>
          </a:xfrm>
          <a:prstGeom prst="roundRect">
            <a:avLst>
              <a:gd name="adj" fmla="val 2727"/>
            </a:avLst>
          </a:prstGeom>
          <a:solidFill>
            <a:srgbClr val="E8F6F5"/>
          </a:solidFill>
          <a:ln/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調べた対象と方法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68680" y="256032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42316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A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CareNet.comトップページ（ログイン前）の構成・情報配置・設定情報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68680" y="352044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338328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A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「使いやすさチェック」で読み解き（情報設計・見やすさ・スマホ対応）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68680" y="4480560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1143000" y="4343400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A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競合はm3.comを取得して比較。メドピアは情報が取れず参考のみ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63640" y="1737360"/>
            <a:ext cx="5349240" cy="4023360"/>
          </a:xfrm>
          <a:prstGeom prst="roundRect">
            <a:avLst>
              <a:gd name="adj" fmla="val 2727"/>
            </a:avLst>
          </a:prstGeom>
          <a:solidFill>
            <a:srgbClr val="FDF3EC"/>
          </a:solidFill>
          <a:ln/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965960"/>
            <a:ext cx="4754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3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ここは範囲外（要注意）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583680" y="2560320"/>
            <a:ext cx="146304" cy="146304"/>
          </a:xfrm>
          <a:prstGeom prst="ellipse">
            <a:avLst/>
          </a:prstGeom>
          <a:solidFill>
            <a:srgbClr val="E8933A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0" y="242316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A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ログイン後の画面、eD/Web講演会の視聴フロー、検索結果画面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583680" y="3520440"/>
            <a:ext cx="146304" cy="146304"/>
          </a:xfrm>
          <a:prstGeom prst="ellipse">
            <a:avLst/>
          </a:prstGeom>
          <a:solidFill>
            <a:srgbClr val="E8933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0" y="338328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A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実機（iPhone/Android）での表示・操作は未検証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583680" y="4480560"/>
            <a:ext cx="146304" cy="146304"/>
          </a:xfrm>
          <a:prstGeom prst="ellipse">
            <a:avLst/>
          </a:prstGeom>
          <a:solidFill>
            <a:srgbClr val="E8933A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0" y="434340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3A4A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直帰率・デバイス比率・ポイ活層の分布などの数値は未参照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最終的な優先順位は、社内のアクセス解析と突き合わせて確定させる必要があります。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良い点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情報設計：ここが良い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3FAF9"/>
          </a:solidFill>
          <a:ln w="12700">
            <a:solidFill>
              <a:srgbClr val="D6EBE9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2140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21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0848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関心軸で整理されたメニュー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508760" y="2578608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B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eD/Web講演会、クイズ、論文/ニュース、がん情報、転職…医師の関心ごとに入口が用意されている。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9632" y="182880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3FAF9"/>
          </a:solidFill>
          <a:ln w="12700">
            <a:solidFill>
              <a:srgbClr val="D6EBE9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212140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21214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59752" y="20848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いつ来ても新しい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59752" y="2578608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B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ランキング・新着・TOPIC・NEWSなど更新性の高い情報が前面に。リピート訪問時の鮮度が高い。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3FAF9"/>
          </a:solidFill>
          <a:ln w="12700">
            <a:solidFill>
              <a:srgbClr val="D6EBE9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08736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87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405079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タイトルが親切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508760" y="4544568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B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記事に診療科・シリーズ名・日付が併記され、中身の見当がつけやすい。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99632" y="379476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3FAF9"/>
          </a:solidFill>
          <a:ln w="12700">
            <a:solidFill>
              <a:srgbClr val="D6EBE9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3952" y="4087368"/>
            <a:ext cx="502920" cy="50292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4087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59752" y="405079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網羅的なインデックス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159752" y="4544568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A6B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フッターの診療科別リンク（26科）や連載一覧は、目的が明確な人には便利な索引になっている。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情報設計：ここが課題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0DACE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121408"/>
            <a:ext cx="502920" cy="502920"/>
          </a:xfrm>
          <a:prstGeom prst="ellipse">
            <a:avLst/>
          </a:prstGeom>
          <a:solidFill>
            <a:srgbClr val="E5564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508760" y="20848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556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(a) 情報が多すぎる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508760" y="2578608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トップに10以上の情報ゾーンが縦に積み重なり、視覚的な強弱がつきにくい。「まず何をすれば？」が判断しづらい。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99632" y="182880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0DACE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2121408"/>
            <a:ext cx="502920" cy="502920"/>
          </a:xfrm>
          <a:prstGeom prst="ellipse">
            <a:avLst/>
          </a:prstGeom>
          <a:solidFill>
            <a:srgbClr val="E5564E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2103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159752" y="208483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556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(b) メニュー名がバラバラ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159752" y="2578608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「論文/ニュース 連載/コラム」のように種類が混ざったり、性質の違う要素が同じラベルに同居。頭の整理を妨げる。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79476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0DACE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087368"/>
            <a:ext cx="502920" cy="502920"/>
          </a:xfrm>
          <a:prstGeom prst="ellipse">
            <a:avLst/>
          </a:prstGeom>
          <a:solidFill>
            <a:srgbClr val="E5564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508760" y="405079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556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(c) フッターが過密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508760" y="4544568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連載40本超・関連サービス十数個・診療科26科が同じ重みで羅列。優先度がなく、探すコストが高い。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99632" y="3794760"/>
            <a:ext cx="539496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F0DACE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3952" y="4087368"/>
            <a:ext cx="502920" cy="502920"/>
          </a:xfrm>
          <a:prstGeom prst="ellipse">
            <a:avLst/>
          </a:prstGeom>
          <a:solidFill>
            <a:srgbClr val="E5564E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4069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159752" y="4050792"/>
            <a:ext cx="4160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E5564E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(d) サービスが分断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7159752" y="4544568"/>
            <a:ext cx="4160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機能が多数のサブドメインに分散。移動のたびにデザインやログイン状態の一貫性が途切れやすい。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改善のアイデア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情報設計：こう変えたい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8F6F5"/>
          </a:solidFill>
          <a:ln/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29968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2996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11096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トップを「今日の学び」中心に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0" y="1911096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新着・ランキング・レコメンドを主役にした1カラム導線へ。その他のサービスは下部やメニューへ格納。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953512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3FAF9"/>
          </a:solidFill>
          <a:ln/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200400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2004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3081528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ログイン後は一人ひとり最適化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943600" y="3081528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登録診療科・視聴履歴・重点領域に応じて表示を出し分け。非ログイン時の「全部見せ」と切り分ける。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123944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E8F6F5"/>
          </a:solidFill>
          <a:ln/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370832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37083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425196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メニューの分類をそろえる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943600" y="42519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「学ぶ／使う／特典・キャリア」の軸に整理し、ラベルの粒度をそろえる。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5294376"/>
            <a:ext cx="11064240" cy="1051560"/>
          </a:xfrm>
          <a:prstGeom prst="roundRect">
            <a:avLst>
              <a:gd name="adj" fmla="val 8696"/>
            </a:avLst>
          </a:prstGeom>
          <a:solidFill>
            <a:srgbClr val="F3FAF9"/>
          </a:solidFill>
          <a:ln/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5541264"/>
            <a:ext cx="566928" cy="566928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54126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600200" y="5422392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フッターはたたむ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943600" y="5422392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A6B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連載一覧は領域別アコーディオンや「人気/新着」フィルタで、初期表示の情報量を抑える。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5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280160"/>
            <a:ext cx="3474720" cy="3474720"/>
          </a:xfrm>
          <a:prstGeom prst="ellipse">
            <a:avLst/>
          </a:prstGeom>
          <a:solidFill>
            <a:srgbClr val="E5564E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B3A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最重要ポイント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スマホ対応の遅れが、いちばんの改善ポイント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A2427"/>
          </a:solidFill>
          <a:ln w="12700">
            <a:solidFill>
              <a:srgbClr val="E5564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96596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C9C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現在の設定：  &lt;meta name="viewport" content="width=1175, maximum-scale=1.0"&gt;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11064240" cy="1024128"/>
          </a:xfrm>
          <a:prstGeom prst="roundRect">
            <a:avLst>
              <a:gd name="adj" fmla="val 8929"/>
            </a:avLst>
          </a:prstGeom>
          <a:solidFill>
            <a:srgbClr val="1E464A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3483864"/>
            <a:ext cx="457200" cy="457200"/>
          </a:xfrm>
          <a:prstGeom prst="ellipse">
            <a:avLst/>
          </a:prstGeom>
          <a:solidFill>
            <a:srgbClr val="E5564E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463040" y="3310128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PC幅で固定されている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DBD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width=1175はPC想定の固定幅。今の標準（画面幅に合わせる設定）ではなく、スマホでは全体が縮小表示に。文字が小さくなる。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334256"/>
            <a:ext cx="11064240" cy="1024128"/>
          </a:xfrm>
          <a:prstGeom prst="roundRect">
            <a:avLst>
              <a:gd name="adj" fmla="val 8929"/>
            </a:avLst>
          </a:prstGeom>
          <a:solidFill>
            <a:srgbClr val="1E464A"/>
          </a:solidFill>
          <a:ln/>
        </p:spPr>
      </p:sp>
      <p:sp>
        <p:nvSpPr>
          <p:cNvPr id="12" name="Shape 10"/>
          <p:cNvSpPr/>
          <p:nvPr/>
        </p:nvSpPr>
        <p:spPr>
          <a:xfrm>
            <a:off x="822960" y="4617720"/>
            <a:ext cx="457200" cy="457200"/>
          </a:xfrm>
          <a:prstGeom prst="ellipse">
            <a:avLst/>
          </a:prstGeom>
          <a:solidFill>
            <a:srgbClr val="E5564E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5994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443984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拡大しづらい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DBD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maximum-scale=1.0で拡大が抑えられ、小さい表示のまま。可読性やアクセシビリティ（特にご高齢の医師）に悪影響。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5468112"/>
            <a:ext cx="11064240" cy="1024128"/>
          </a:xfrm>
          <a:prstGeom prst="roundRect">
            <a:avLst>
              <a:gd name="adj" fmla="val 8929"/>
            </a:avLst>
          </a:prstGeom>
          <a:solidFill>
            <a:srgbClr val="1E464A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5751576"/>
            <a:ext cx="457200" cy="457200"/>
          </a:xfrm>
          <a:prstGeom prst="ellipse">
            <a:avLst/>
          </a:prstGeom>
          <a:solidFill>
            <a:srgbClr val="E5564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7332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!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463040" y="557784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スマホ向けの組み替えがない
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7DBD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1カラム化やタップ領域の拡大といった、スマホ用のレイアウト調整が見られない。タップ精度や回遊性が犠牲に。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モバイルの改善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スマホ体験：こう変えたい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改善の3ステップ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945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371600" y="210312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最優先：レスポンシブ化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画面幅に合わせる設定へ刷新し、拡大制限をなくす（ズーム可能に）。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342900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4290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71600" y="33375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スマホは1カラム＋押しやすいボタン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親指の届く位置にCTA、44px以上のタップ領域。ランキング・新着を上部に集約。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4663440"/>
            <a:ext cx="566928" cy="56692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46634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371600" y="457200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サブドメインも横断チェック
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A6B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ログイン維持（SSO/CNパス）とレイアウトの一貫性を担保。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46520" y="1737360"/>
            <a:ext cx="5166360" cy="4114800"/>
          </a:xfrm>
          <a:prstGeom prst="roundRect">
            <a:avLst>
              <a:gd name="adj" fmla="val 2667"/>
            </a:avLst>
          </a:prstGeom>
          <a:solidFill>
            <a:srgbClr val="E8F6F5"/>
          </a:solidFill>
          <a:ln/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66560" y="1965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競合との差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766560" y="2514600"/>
            <a:ext cx="4526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A4A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m3.comは専用スマホ/タブレットアプリを前面に。「いつでも欲しい情報を」軽快に読める体験を用意しています。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0" y="3840480"/>
            <a:ext cx="452628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6EB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95160" y="4023360"/>
            <a:ext cx="4069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i="1" dirty="0">
                <a:solidFill>
                  <a:srgbClr val="0E7C8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医師のスキマ時間の利用はスマホ中心。モバイル体験の差は、そのままエンゲージメントの差に直結します。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利用文脈への適合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多忙な医師の使い方に合っている？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4114800"/>
          </a:xfrm>
          <a:prstGeom prst="roundRect">
            <a:avLst>
              <a:gd name="adj" fmla="val 2667"/>
            </a:avLst>
          </a:prstGeom>
          <a:solidFill>
            <a:srgbClr val="E8F6F5"/>
          </a:solidFill>
          <a:ln/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659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A8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合っている点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868680" y="2542032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420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98448" y="2441448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ランキング・新着・TOPICで「今読むべき」を提示。速い意思決定を助ける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68680" y="3593592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5935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3493008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臨床◯×クイズ、今日の所見など短時間コンテンツ、海外論文の要約系が充実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68680" y="4645152"/>
            <a:ext cx="292608" cy="292608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464515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298448" y="4544568"/>
            <a:ext cx="4434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3A4A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プライバシーマークや編集部の厳選など、信頼性の訴求が随所に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63640" y="1737360"/>
            <a:ext cx="5349240" cy="4114800"/>
          </a:xfrm>
          <a:prstGeom prst="roundRect">
            <a:avLst>
              <a:gd name="adj" fmla="val 2667"/>
            </a:avLst>
          </a:prstGeom>
          <a:solidFill>
            <a:srgbClr val="FDF3EC"/>
          </a:solidFill>
          <a:ln/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83680" y="19659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3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リスク：ポイ活と情報利用の二極化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83680" y="2514600"/>
            <a:ext cx="4709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4A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会員特典・ふるさと納税・ポイント・アンケートがトップで強く露出しています。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583680" y="3291840"/>
            <a:ext cx="47091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A4A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エンゲージメント施策として有効な一方、ポイント目的の受動的な利用（ポイ活）を出しすぎると、学びや臨床活用を目的とする層の体験が薄まる恐れがあります。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83680" y="4892040"/>
            <a:ext cx="4709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i="1" dirty="0">
                <a:solidFill>
                  <a:srgbClr val="E893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→ トップの見せ方で、学び系を初期フォーカスに。ポイントは行動導線（回答後・視聴後）に文脈連動で配置。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競合比較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競合比較：CareNet と m3.com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480560"/>
                <a:gridCol w="448056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観点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CareNet.com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m3.com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A4A4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トップの入口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5D6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非ログインでも大量に露出（オープン型）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A4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ログインゲート化し入口を集約（クローズ型）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A4A4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情報構造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5D6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10以上の並列ゾーン＋過密フッター。網羅的だが優先度が弱い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A4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4本柱（情報/交流/キャリア/特典）に整理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A4A4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モバイル対応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5D6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PC版は固定幅・拡大制限あり。レスポンシブ性が弱い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A4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専用アプリを前面化。スマホ利用を明確に想定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A4A4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コミュニティ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5D6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限定的（トップ導線では目立たない）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A4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カンファレンス/コミュニティ等が主要な柱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A4A4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強み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A5D64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コンテンツの質・編集力・動画・がん領域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3A4A4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会員規模・交流・アプリ体験・入口の明快さ</a:t>
                      </a:r>
                      <a:endParaRPr lang="en-US" sz="12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436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i="1" dirty="0">
                <a:solidFill>
                  <a:srgbClr val="5A6B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含意：CareNetの差別化はコンテンツの深さ・編集力・動画・がん領域。入口の明快さ・モバイル・交流ではm3が先行。「見せ方」を整えれば、持っている資産をもっと活かせます。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優先順位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課題の優先度整理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6D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「効果の大きさ × 実装のしやすさ」で見た目安です（仮説。社内データで確定）。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5577840"/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課題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7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効果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7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難易度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7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優先度</a:t>
                      </a:r>
                      <a:endParaRPr lang="en-US" sz="135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37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A4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トップ/主要導線のレスポンシブ化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A4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A4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中〜大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最優先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564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A4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ログイン後の最適化と学び系フォーカス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A4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大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A4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3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A4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情報設計の再編（ゾーニング・ラベル統一）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A4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中〜大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A4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高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93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A4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サブドメイン横断の体験/SSO一貫性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A4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A4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中〜大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A4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フッター/連載一覧の情報量を圧縮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A4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A4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A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3A4A4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ポイント露出の文脈連動化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A4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A4C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小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中</a:t>
                      </a:r>
                      <a:endParaRPr lang="en-US" sz="13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6200" marR="76200" marT="50800" marB="50800" anchor="ctr">
                    <a:lnL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C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8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0A8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進め方の目安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5373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改善ロードマップ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783080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2240280"/>
            <a:ext cx="3611880" cy="41148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8928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短期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229514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〜3ヶ月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77240" y="2926080"/>
            <a:ext cx="137160" cy="1371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1033272" y="280720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A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実機のスマホ表示・SP版の有無を確定し、固定幅と拡大制限の是正に着手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3886200"/>
            <a:ext cx="137160" cy="1371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2" name="Text 10"/>
          <p:cNvSpPr/>
          <p:nvPr/>
        </p:nvSpPr>
        <p:spPr>
          <a:xfrm>
            <a:off x="1033272" y="376732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A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トップの情報に優先度を付け、ファーストビューを「新着＋ランキング＋主要CTA」に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4846320"/>
            <a:ext cx="137160" cy="137160"/>
          </a:xfrm>
          <a:prstGeom prst="ellipse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1033272" y="472744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A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アクセス解析でデバイス比率・直帰率・利用層の分布を確認し仮説を検証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343400" y="178308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43400" y="1783080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00A896"/>
          </a:solidFill>
          <a:ln/>
        </p:spPr>
      </p:sp>
      <p:sp>
        <p:nvSpPr>
          <p:cNvPr id="17" name="Shape 15"/>
          <p:cNvSpPr/>
          <p:nvPr/>
        </p:nvSpPr>
        <p:spPr>
          <a:xfrm>
            <a:off x="4343400" y="2240280"/>
            <a:ext cx="3611880" cy="4114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18928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中期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617720" y="229514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3〜9ヶ月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17720" y="2926080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1" name="Text 19"/>
          <p:cNvSpPr/>
          <p:nvPr/>
        </p:nvSpPr>
        <p:spPr>
          <a:xfrm>
            <a:off x="4873752" y="280720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A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トップ/主要導線のレスポンシブ全面刷新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4617720" y="3886200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3" name="Text 21"/>
          <p:cNvSpPr/>
          <p:nvPr/>
        </p:nvSpPr>
        <p:spPr>
          <a:xfrm>
            <a:off x="4873752" y="376732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A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ログイン後トップのパーソナライズ（診療科・履歴・重点領域）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17720" y="4846320"/>
            <a:ext cx="137160" cy="13716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25" name="Text 23"/>
          <p:cNvSpPr/>
          <p:nvPr/>
        </p:nvSpPr>
        <p:spPr>
          <a:xfrm>
            <a:off x="4873752" y="472744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A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メニュー/フッターの情報設計を再編し、ラベルを統一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183880" y="1783080"/>
            <a:ext cx="3611880" cy="4114800"/>
          </a:xfrm>
          <a:prstGeom prst="roundRect">
            <a:avLst>
              <a:gd name="adj" fmla="val 3038"/>
            </a:avLst>
          </a:prstGeom>
          <a:solidFill>
            <a:srgbClr val="FFFFFF"/>
          </a:solidFill>
          <a:ln w="12700">
            <a:solidFill>
              <a:srgbClr val="E2ECEB"/>
            </a:solidFill>
            <a:prstDash val="solid"/>
          </a:ln>
          <a:effectLst>
            <a:outerShdw sx="100000" sy="100000" kx="0" ky="0" algn="bl" rotWithShape="0" blurRad="101600" dist="38100" dir="5400000">
              <a:srgbClr val="888888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183880" y="1783080"/>
            <a:ext cx="3611880" cy="868680"/>
          </a:xfrm>
          <a:prstGeom prst="roundRect">
            <a:avLst>
              <a:gd name="adj" fmla="val 12632"/>
            </a:avLst>
          </a:prstGeom>
          <a:solidFill>
            <a:srgbClr val="E8933A"/>
          </a:solidFill>
          <a:ln/>
        </p:spPr>
      </p:sp>
      <p:sp>
        <p:nvSpPr>
          <p:cNvPr id="28" name="Shape 26"/>
          <p:cNvSpPr/>
          <p:nvPr/>
        </p:nvSpPr>
        <p:spPr>
          <a:xfrm>
            <a:off x="8183880" y="2240280"/>
            <a:ext cx="3611880" cy="411480"/>
          </a:xfrm>
          <a:prstGeom prst="rect">
            <a:avLst/>
          </a:prstGeom>
          <a:solidFill>
            <a:srgbClr val="E8933A"/>
          </a:solidFill>
          <a:ln/>
        </p:spPr>
      </p:sp>
      <p:sp>
        <p:nvSpPr>
          <p:cNvPr id="29" name="Text 27"/>
          <p:cNvSpPr/>
          <p:nvPr/>
        </p:nvSpPr>
        <p:spPr>
          <a:xfrm>
            <a:off x="8458200" y="1892808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中長期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8458200" y="2295144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9ヶ月〜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458200" y="2926080"/>
            <a:ext cx="137160" cy="137160"/>
          </a:xfrm>
          <a:prstGeom prst="ellipse">
            <a:avLst/>
          </a:prstGeom>
          <a:solidFill>
            <a:srgbClr val="E8933A"/>
          </a:solidFill>
          <a:ln/>
        </p:spPr>
      </p:sp>
      <p:sp>
        <p:nvSpPr>
          <p:cNvPr id="32" name="Text 30"/>
          <p:cNvSpPr/>
          <p:nvPr/>
        </p:nvSpPr>
        <p:spPr>
          <a:xfrm>
            <a:off x="8714232" y="280720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A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サブドメイン群のブランド/ログイン/レイアウトの一貫性を横断整備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8458200" y="3886200"/>
            <a:ext cx="137160" cy="137160"/>
          </a:xfrm>
          <a:prstGeom prst="ellipse">
            <a:avLst/>
          </a:prstGeom>
          <a:solidFill>
            <a:srgbClr val="E8933A"/>
          </a:solidFill>
          <a:ln/>
        </p:spPr>
      </p:sp>
      <p:sp>
        <p:nvSpPr>
          <p:cNvPr id="34" name="Text 32"/>
          <p:cNvSpPr/>
          <p:nvPr/>
        </p:nvSpPr>
        <p:spPr>
          <a:xfrm>
            <a:off x="8714232" y="3767328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250" dirty="0">
                <a:solidFill>
                  <a:srgbClr val="3A4A4C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コミュニティ/交流領域の強化余地を検討（m3・メドピアとの差分を踏まえて）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537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480560"/>
            <a:ext cx="3291840" cy="3291840"/>
          </a:xfrm>
          <a:prstGeom prst="ellipse">
            <a:avLst/>
          </a:prstGeom>
          <a:solidFill>
            <a:srgbClr val="0E7C86">
              <a:alpha val="5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-1097280"/>
            <a:ext cx="3108960" cy="3108960"/>
          </a:xfrm>
          <a:prstGeom prst="ellipse">
            <a:avLst/>
          </a:prstGeom>
          <a:solidFill>
            <a:srgbClr val="00A896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A896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まとめ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0515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強い資産を、もっと届く形に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777240" y="228600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2860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①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600200" y="224028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まずはスマホ対応
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DBD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固定幅・拡大制限を直すことが、最も効果の大きい一歩。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333756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3375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32918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トップを「今日の学び」中心に
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DBD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情報の優先度をつけ、迷わない導線に。ログイン後は最適化。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4389120"/>
            <a:ext cx="640080" cy="64008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389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③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600200" y="434340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見せ方を整えて資産を活かす
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7DBDA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コンテンツの強みはそのまま。IA・モバイルの整備で価値を引き出す。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31520" y="5623560"/>
            <a:ext cx="10698480" cy="777240"/>
          </a:xfrm>
          <a:prstGeom prst="roundRect">
            <a:avLst>
              <a:gd name="adj" fmla="val 11765"/>
            </a:avLst>
          </a:prstGeom>
          <a:solidFill>
            <a:srgbClr val="1E464A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5623560"/>
            <a:ext cx="10149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8F6F5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次のステップ：ログイン後画面・実機検証・アクセス解析・ユーザーテストで、この仮説を裏付けていきましょう。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2026-07-22T06:13:39Z</dcterms:created>
  <dcterms:modified xsi:type="dcterms:W3CDTF">2026-07-22T06:13:39Z</dcterms:modified>
</cp:coreProperties>
</file>